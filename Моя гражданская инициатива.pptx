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71" r:id="rId1"/>
    <p:sldMasterId id="2147483657" r:id="rId2"/>
    <p:sldMasterId id="2147483828" r:id="rId3"/>
    <p:sldMasterId id="2147483833" r:id="rId4"/>
  </p:sldMasterIdLst>
  <p:notesMasterIdLst>
    <p:notesMasterId r:id="rId13"/>
  </p:notesMasterIdLst>
  <p:handoutMasterIdLst>
    <p:handoutMasterId r:id="rId14"/>
  </p:handoutMasterIdLst>
  <p:sldIdLst>
    <p:sldId id="1171" r:id="rId5"/>
    <p:sldId id="1186" r:id="rId6"/>
    <p:sldId id="1181" r:id="rId7"/>
    <p:sldId id="1199" r:id="rId8"/>
    <p:sldId id="1200" r:id="rId9"/>
    <p:sldId id="1177" r:id="rId10"/>
    <p:sldId id="1202" r:id="rId11"/>
    <p:sldId id="1203" r:id="rId12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" id="{E6ECDA77-1B8E-0E4F-8DDA-529EB99512FD}">
          <p14:sldIdLst>
            <p14:sldId id="1171"/>
            <p14:sldId id="1186"/>
            <p14:sldId id="1181"/>
            <p14:sldId id="1199"/>
            <p14:sldId id="1200"/>
            <p14:sldId id="1177"/>
            <p14:sldId id="1202"/>
            <p14:sldId id="1203"/>
          </p14:sldIdLst>
        </p14:section>
      </p14:sectionLst>
    </p:ext>
    <p:ext uri="{EFAFB233-063F-42B5-8137-9DF3F51BA10A}">
      <p15:sldGuideLst xmlns="" xmlns:p15="http://schemas.microsoft.com/office/powerpoint/2012/main"/>
    </p:ext>
    <p:ext uri="{2D200454-40CA-4A62-9FC3-DE9A4176ACB9}">
      <p15:notes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ексей Малышев" initials="АМ" lastIdx="8" clrIdx="0">
    <p:extLst/>
  </p:cmAuthor>
  <p:cmAuthor id="2" name="OCTS" initials="O" lastIdx="1" clrIdx="1">
    <p:extLst/>
  </p:cmAuthor>
  <p:cmAuthor id="3" name="Kostylev Andrey" initials="KA" lastIdx="1" clrIdx="2">
    <p:extLst/>
  </p:cmAuthor>
  <p:cmAuthor id="4" name="Elizaveta Kostyleva" initials="EK" lastIdx="1" clrIdx="3">
    <p:extLst/>
  </p:cmAuthor>
  <p:cmAuthor id="5" name="ОЦТС" initials="О" lastIdx="2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AA"/>
    <a:srgbClr val="9D9D9D"/>
    <a:srgbClr val="FEFEFE"/>
    <a:srgbClr val="BFBFB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5" autoAdjust="0"/>
    <p:restoredTop sz="90520" autoAdjust="0"/>
  </p:normalViewPr>
  <p:slideViewPr>
    <p:cSldViewPr snapToGrid="0" snapToObjects="1">
      <p:cViewPr>
        <p:scale>
          <a:sx n="70" d="100"/>
          <a:sy n="70" d="100"/>
        </p:scale>
        <p:origin x="-744" y="-1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66" d="100"/>
        <a:sy n="66" d="100"/>
      </p:scale>
      <p:origin x="0" y="-7146"/>
    </p:cViewPr>
  </p:sorterViewPr>
  <p:notesViewPr>
    <p:cSldViewPr snapToGrid="0" snapToObjects="1">
      <p:cViewPr varScale="1">
        <p:scale>
          <a:sx n="85" d="100"/>
          <a:sy n="85" d="100"/>
        </p:scale>
        <p:origin x="380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AA78F288-5E3C-4F81-AD43-7789565D29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982D620-2592-455C-9AF4-8E2D0C2F79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FCE6C-E7E6-4C35-A8B5-8F9784AA687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F55628E3-CFC5-471A-B6A2-9F949B2E81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4586937-338C-4D39-8822-B1F000CF6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77762-F59A-4FB1-90F9-50BE76F03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588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46D5B-6567-794D-8CBA-5CCA973D6774}" type="datetimeFigureOut">
              <a:t>27.12.2025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DE2F8-02D4-C448-B364-7246A6689E7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934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2918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6243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ая стран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176EB76-0898-4F71-9685-0F9BE4E1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17CD38B1-ACC6-416C-AF72-6F91347F9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568243"/>
            <a:ext cx="6330950" cy="84115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3pPr marL="914400" indent="0">
              <a:buNone/>
              <a:defRPr/>
            </a:lvl3pPr>
          </a:lstStyle>
          <a:p>
            <a:pPr lvl="0"/>
            <a:r>
              <a:rPr lang="ru-RU" dirty="0"/>
              <a:t>Имя Фамилия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="" xmlns:a16="http://schemas.microsoft.com/office/drawing/2014/main" id="{F0C140D7-ACA5-419A-846F-D1888293EF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52598" y="5993952"/>
            <a:ext cx="3488540" cy="387798"/>
          </a:xfrm>
        </p:spPr>
        <p:txBody>
          <a:bodyPr/>
          <a:lstStyle>
            <a:lvl2pPr>
              <a:defRPr/>
            </a:lvl2pPr>
            <a:lvl3pPr marL="914400" indent="0">
              <a:buNone/>
              <a:defRPr/>
            </a:lvl3pPr>
          </a:lstStyle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289141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=""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748982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155870458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=""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="" xmlns:a16="http://schemas.microsoft.com/office/drawing/2014/main" id="{C75DE5C1-456E-4D90-87F0-D35E9FD23C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6364" y="1341437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96248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е колонки в одном бло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=""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11090275" cy="5040312"/>
          </a:xfrm>
        </p:spPr>
        <p:txBody>
          <a:bodyPr numCol="2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09747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="" xmlns:a16="http://schemas.microsoft.com/office/drawing/2014/main" id="{8E0F7007-BD13-44DA-B2D4-D16824AB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2" y="1341438"/>
            <a:ext cx="7475537" cy="5040312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272128385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дин блок с заголовком/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="" xmlns:a16="http://schemas.microsoft.com/office/drawing/2014/main" id="{8E0F7007-BD13-44DA-B2D4-D16824AB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2" y="1819276"/>
            <a:ext cx="7475537" cy="45624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="" xmlns:a16="http://schemas.microsoft.com/office/drawing/2014/main" id="{64C3877D-2148-449E-8D18-378259BFDF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3" y="1341438"/>
            <a:ext cx="7475536" cy="635000"/>
          </a:xfrm>
        </p:spPr>
        <p:txBody>
          <a:bodyPr/>
          <a:lstStyle/>
          <a:p>
            <a:pPr lvl="1"/>
            <a:r>
              <a:rPr lang="ru-RU" dirty="0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256156838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="" xmlns:a16="http://schemas.microsoft.com/office/drawing/2014/main" id="{04B2F2CF-1F6E-4737-8380-2ACFF853EA4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5184775" cy="50403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="" xmlns:a16="http://schemas.microsoft.com/office/drawing/2014/main" id="{484797F9-7539-4EA9-A418-767254923B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56363" y="1341438"/>
            <a:ext cx="5184775" cy="50403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54276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блока с заголовком/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="" xmlns:a16="http://schemas.microsoft.com/office/drawing/2014/main" id="{8E0F7007-BD13-44DA-B2D4-D16824AB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1828800"/>
            <a:ext cx="5184776" cy="4552949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="" xmlns:a16="http://schemas.microsoft.com/office/drawing/2014/main" id="{64C3877D-2148-449E-8D18-378259BFDF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3" y="1341438"/>
            <a:ext cx="5184775" cy="635000"/>
          </a:xfrm>
        </p:spPr>
        <p:txBody>
          <a:bodyPr/>
          <a:lstStyle/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8" name="Объект 6">
            <a:extLst>
              <a:ext uri="{FF2B5EF4-FFF2-40B4-BE49-F238E27FC236}">
                <a16:creationId xmlns="" xmlns:a16="http://schemas.microsoft.com/office/drawing/2014/main" id="{9A78599F-D79E-4281-BEF4-7422CEEA54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66194" y="1828800"/>
            <a:ext cx="5184776" cy="4552949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="" xmlns:a16="http://schemas.microsoft.com/office/drawing/2014/main" id="{42A86BF5-AF69-48DE-AFDD-C1FAD65027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66194" y="1341438"/>
            <a:ext cx="5184775" cy="635000"/>
          </a:xfrm>
        </p:spPr>
        <p:txBody>
          <a:bodyPr/>
          <a:lstStyle/>
          <a:p>
            <a:pPr lvl="1"/>
            <a:r>
              <a:rPr lang="ru-RU" dirty="0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11244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735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6875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=""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42AFB8C0-5C8E-4D3D-ADF9-00059CE618CF}"/>
              </a:ext>
            </a:extLst>
          </p:cNvPr>
          <p:cNvSpPr txBox="1"/>
          <p:nvPr userDrawn="1"/>
        </p:nvSpPr>
        <p:spPr>
          <a:xfrm>
            <a:off x="9541404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771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1843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=""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0205243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385"/>
          <a:stretch/>
        </p:blipFill>
        <p:spPr>
          <a:xfrm>
            <a:off x="10776480" y="5500691"/>
            <a:ext cx="864658" cy="9138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676746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83A6AFA2-D81A-4798-AEC0-3F4A7A8C22AC}"/>
              </a:ext>
            </a:extLst>
          </p:cNvPr>
          <p:cNvSpPr txBox="1"/>
          <p:nvPr userDrawn="1"/>
        </p:nvSpPr>
        <p:spPr>
          <a:xfrm>
            <a:off x="571238" y="6179006"/>
            <a:ext cx="320506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chemeClr val="bg1">
                    <a:lumMod val="50000"/>
                  </a:schemeClr>
                </a:solidFill>
              </a:rPr>
              <a:t>© </a:t>
            </a:r>
            <a:r>
              <a:rPr lang="ru-RU" sz="1100" b="0" dirty="0">
                <a:solidFill>
                  <a:schemeClr val="bg1">
                    <a:lumMod val="50000"/>
                  </a:schemeClr>
                </a:solidFill>
              </a:rPr>
              <a:t>ГУАП, 2023</a:t>
            </a:r>
            <a:endParaRPr lang="ru-RU" sz="14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039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3 - для выступл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509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4 -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03FAF823-6E65-4BE2-B22A-CEAA3977E7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6363" y="3275544"/>
            <a:ext cx="5184775" cy="1997341"/>
          </a:xfrm>
        </p:spPr>
        <p:txBody>
          <a:bodyPr anchor="ctr" anchorCtr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4001576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309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sv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DA26B8BC-9AE2-41D8-8A90-8D1C0A2A55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85009951-9659-4924-B8D1-D9994BE1E4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56155"/>
          <a:stretch/>
        </p:blipFill>
        <p:spPr>
          <a:xfrm>
            <a:off x="550865" y="304376"/>
            <a:ext cx="2827336" cy="10953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739E3CC-EBAD-4C68-8215-E3D1E338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2509678"/>
            <a:ext cx="8051638" cy="13255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E220187D-590C-4FB1-A787-08B69F583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4568243"/>
            <a:ext cx="6234948" cy="10047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162485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r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32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40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=""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=""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444A2A7-9511-4B2D-A046-C71363808B05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412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1" r:id="rId2"/>
    <p:sldLayoutId id="2147483759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 userDrawn="1">
          <p15:clr>
            <a:srgbClr val="F26B43"/>
          </p15:clr>
        </p15:guide>
        <p15:guide id="6" pos="406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=""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=""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B69BA297-C05B-4A1B-BC54-4DA26B4C6721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9859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44" r:id="rId2"/>
    <p:sldLayoutId id="2147483832" r:id="rId3"/>
    <p:sldLayoutId id="2147483845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 userDrawn="1">
          <p15:clr>
            <a:srgbClr val="F26B43"/>
          </p15:clr>
        </p15:guide>
        <p15:guide id="6" pos="406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=""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=""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B414C9C7-3F3B-4FAE-B19C-B28F0A67B7F7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4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6" r:id="rId2"/>
    <p:sldLayoutId id="2147483847" r:id="rId3"/>
    <p:sldLayoutId id="2147483849" r:id="rId4"/>
    <p:sldLayoutId id="2147483850" r:id="rId5"/>
    <p:sldLayoutId id="2147483843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4067" userDrawn="1">
          <p15:clr>
            <a:srgbClr val="F26B43"/>
          </p15:clr>
        </p15:guide>
        <p15:guide id="6" pos="361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DA5BC97-99E1-4827-A5AA-5E9EBED1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«Чат-бот для приёмной комиссии образовательной организации»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51EA8D34-BBBA-48A9-9B83-130C3E8DC9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216" y="4050590"/>
            <a:ext cx="6330950" cy="1404540"/>
          </a:xfrm>
        </p:spPr>
        <p:txBody>
          <a:bodyPr>
            <a:normAutofit/>
          </a:bodyPr>
          <a:lstStyle/>
          <a:p>
            <a:pPr algn="ctr"/>
            <a:r>
              <a:rPr lang="ru-RU" sz="1100" dirty="0"/>
              <a:t>Проект по </a:t>
            </a:r>
            <a:r>
              <a:rPr lang="ru-RU" sz="1100" dirty="0" smtClean="0"/>
              <a:t>дисциплине «</a:t>
            </a:r>
            <a:r>
              <a:rPr lang="ru-RU" sz="1100" dirty="0"/>
              <a:t>Основы российской государственности»</a:t>
            </a:r>
          </a:p>
          <a:p>
            <a:pPr algn="ctr"/>
            <a:r>
              <a:rPr lang="ru-RU" sz="1100" dirty="0"/>
              <a:t>Направление проекта</a:t>
            </a:r>
            <a:r>
              <a:rPr lang="ru-RU" sz="1100" dirty="0" smtClean="0"/>
              <a:t>: социально-ориентированные </a:t>
            </a:r>
            <a:r>
              <a:rPr lang="ru-RU" sz="1100" dirty="0"/>
              <a:t>цифровые инициативы в сфере образования</a:t>
            </a:r>
          </a:p>
          <a:p>
            <a:pPr algn="ctr"/>
            <a:r>
              <a:rPr lang="ru-RU" sz="1100" dirty="0"/>
              <a:t>Разработчик(и):Фамилия Имя Отчество, учебная группа(при командной работе — перечислить всех участников)</a:t>
            </a:r>
          </a:p>
          <a:p>
            <a:pPr algn="ctr"/>
            <a:r>
              <a:rPr lang="ru-RU" sz="1100" dirty="0"/>
              <a:t>Образовательная организация</a:t>
            </a:r>
            <a:r>
              <a:rPr lang="ru-RU" sz="1100" dirty="0" smtClean="0"/>
              <a:t>: Санкт-Петербургский </a:t>
            </a:r>
            <a:r>
              <a:rPr lang="ru-RU" sz="1100" dirty="0"/>
              <a:t>государственный университет аэрокосмического приборостроения (ГУАП)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EC26AC53-244B-4289-B3B5-D31C1BFD52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ru-RU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2705815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="" xmlns:a16="http://schemas.microsoft.com/office/drawing/2014/main" id="{B590F643-562B-41E2-8E6D-A3A0F9050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Команда проекта и распределение ролей</a:t>
            </a:r>
          </a:p>
        </p:txBody>
      </p:sp>
      <p:graphicFrame>
        <p:nvGraphicFramePr>
          <p:cNvPr id="9" name="Таблица 9">
            <a:extLst>
              <a:ext uri="{FF2B5EF4-FFF2-40B4-BE49-F238E27FC236}">
                <a16:creationId xmlns="" xmlns:a16="http://schemas.microsoft.com/office/drawing/2014/main" id="{F3538304-4706-4499-967D-A0AD63508A7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951879310"/>
              </p:ext>
            </p:extLst>
          </p:nvPr>
        </p:nvGraphicFramePr>
        <p:xfrm>
          <a:off x="550863" y="1341438"/>
          <a:ext cx="11039454" cy="4663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926245">
                  <a:extLst>
                    <a:ext uri="{9D8B030D-6E8A-4147-A177-3AD203B41FA5}">
                      <a16:colId xmlns="" xmlns:a16="http://schemas.microsoft.com/office/drawing/2014/main" val="1909452533"/>
                    </a:ext>
                  </a:extLst>
                </a:gridCol>
                <a:gridCol w="2817467">
                  <a:extLst>
                    <a:ext uri="{9D8B030D-6E8A-4147-A177-3AD203B41FA5}">
                      <a16:colId xmlns="" xmlns:a16="http://schemas.microsoft.com/office/drawing/2014/main" val="404384710"/>
                    </a:ext>
                  </a:extLst>
                </a:gridCol>
                <a:gridCol w="1877781">
                  <a:extLst>
                    <a:ext uri="{9D8B030D-6E8A-4147-A177-3AD203B41FA5}">
                      <a16:colId xmlns="" xmlns:a16="http://schemas.microsoft.com/office/drawing/2014/main" val="1100039667"/>
                    </a:ext>
                  </a:extLst>
                </a:gridCol>
                <a:gridCol w="5417961">
                  <a:extLst>
                    <a:ext uri="{9D8B030D-6E8A-4147-A177-3AD203B41FA5}">
                      <a16:colId xmlns="" xmlns:a16="http://schemas.microsoft.com/office/drawing/2014/main" val="12644009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№ п/п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Фамилия, инициалы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/>
                        <a:t>Роль в команде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/>
                        <a:t>Функции / задачи участника проекта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296026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Сыщикова</a:t>
                      </a:r>
                      <a:r>
                        <a:rPr lang="ru-RU" baseline="0" dirty="0" smtClean="0"/>
                        <a:t> Д.И.</a:t>
                      </a:r>
                      <a:endParaRPr lang="ru-RU" dirty="0"/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Руководитель</a:t>
                      </a:r>
                      <a:endParaRPr lang="ru-RU" dirty="0"/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Создание группы, </a:t>
                      </a:r>
                    </a:p>
                    <a:p>
                      <a:pPr algn="ctr"/>
                      <a:r>
                        <a:rPr lang="ru-RU" dirty="0" smtClean="0"/>
                        <a:t>генерация</a:t>
                      </a:r>
                      <a:r>
                        <a:rPr lang="ru-RU" baseline="0" dirty="0" smtClean="0"/>
                        <a:t> идей, </a:t>
                      </a:r>
                    </a:p>
                    <a:p>
                      <a:pPr algn="ctr"/>
                      <a:r>
                        <a:rPr lang="ru-RU" baseline="0" dirty="0" smtClean="0"/>
                        <a:t>выбор региона реализации, </a:t>
                      </a:r>
                      <a:br>
                        <a:rPr lang="ru-RU" baseline="0" dirty="0" smtClean="0"/>
                      </a:br>
                      <a:r>
                        <a:rPr lang="ru-RU" baseline="0" dirty="0" smtClean="0"/>
                        <a:t>рассмотрение социальной значимости и целевой аудитории проекта (слайд 3),</a:t>
                      </a:r>
                    </a:p>
                    <a:p>
                      <a:pPr algn="ctr"/>
                      <a:r>
                        <a:rPr lang="ru-RU" baseline="0" dirty="0" smtClean="0"/>
                        <a:t>разработка цели и задач проекта (слайд 4)</a:t>
                      </a:r>
                    </a:p>
                    <a:p>
                      <a:pPr algn="ctr"/>
                      <a:r>
                        <a:rPr lang="ru-RU" baseline="0" dirty="0" smtClean="0"/>
                        <a:t>поиск источников финансирования (слайд 5),</a:t>
                      </a:r>
                    </a:p>
                    <a:p>
                      <a:pPr algn="ctr"/>
                      <a:r>
                        <a:rPr lang="ru-RU" baseline="0" dirty="0" smtClean="0"/>
                        <a:t>создание презентации</a:t>
                      </a:r>
                      <a:endParaRPr lang="ru-RU" dirty="0"/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190818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Андриянов А.В</a:t>
                      </a:r>
                      <a:endParaRPr lang="ru-RU" dirty="0"/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Сотрудник</a:t>
                      </a:r>
                      <a:r>
                        <a:rPr lang="ru-RU" baseline="0" dirty="0" smtClean="0"/>
                        <a:t> проектной</a:t>
                      </a:r>
                      <a:br>
                        <a:rPr lang="ru-RU" baseline="0" dirty="0" smtClean="0"/>
                      </a:br>
                      <a:r>
                        <a:rPr lang="ru-RU" baseline="0" dirty="0" smtClean="0"/>
                        <a:t>группы</a:t>
                      </a:r>
                      <a:endParaRPr lang="ru-RU" dirty="0"/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Генерация идей, </a:t>
                      </a:r>
                    </a:p>
                    <a:p>
                      <a:pPr algn="ctr"/>
                      <a:r>
                        <a:rPr lang="ru-RU" baseline="0" dirty="0" smtClean="0"/>
                        <a:t>создание описания проекта (слайд 6),</a:t>
                      </a:r>
                      <a:endParaRPr lang="ru-RU" dirty="0" smtClean="0"/>
                    </a:p>
                    <a:p>
                      <a:pPr algn="ctr"/>
                      <a:r>
                        <a:rPr lang="ru-RU" dirty="0" smtClean="0"/>
                        <a:t>формирование этапов</a:t>
                      </a:r>
                      <a:r>
                        <a:rPr lang="ru-RU" baseline="0" dirty="0" smtClean="0"/>
                        <a:t> реализации проекта (слайд 7),</a:t>
                      </a:r>
                      <a:r>
                        <a:rPr lang="ru-RU" dirty="0" smtClean="0"/>
                        <a:t> </a:t>
                      </a:r>
                    </a:p>
                    <a:p>
                      <a:pPr algn="ctr"/>
                      <a:r>
                        <a:rPr lang="ru-RU" dirty="0" smtClean="0"/>
                        <a:t>оценка ожидаемых результатов и рисков проекта (слайд</a:t>
                      </a:r>
                      <a:r>
                        <a:rPr lang="ru-RU" baseline="0" dirty="0" smtClean="0"/>
                        <a:t> 8)</a:t>
                      </a:r>
                      <a:endParaRPr lang="ru-RU" dirty="0"/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774222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2876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="" xmlns:a16="http://schemas.microsoft.com/office/drawing/2014/main" id="{F49452D1-89AA-4C5A-88F0-499C88E144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3"/>
            <a:r>
              <a:rPr lang="ru-RU" i="1" dirty="0">
                <a:solidFill>
                  <a:schemeClr val="accent1"/>
                </a:solidFill>
              </a:rPr>
              <a:t>Регион реализации проекта</a:t>
            </a:r>
          </a:p>
          <a:p>
            <a:pPr lvl="3"/>
            <a:r>
              <a:rPr lang="ru-RU" dirty="0"/>
              <a:t>Российская Федерация (на уровне образовательных организаций высшего и среднего профессионального образования)</a:t>
            </a:r>
          </a:p>
          <a:p>
            <a:pPr lvl="3"/>
            <a:endParaRPr lang="ru-RU" dirty="0"/>
          </a:p>
          <a:p>
            <a:pPr lvl="3"/>
            <a:r>
              <a:rPr lang="ru-RU" i="1" dirty="0">
                <a:solidFill>
                  <a:schemeClr val="accent1"/>
                </a:solidFill>
              </a:rPr>
              <a:t>Целевая аудитория проекта</a:t>
            </a:r>
          </a:p>
          <a:p>
            <a:pPr lvl="3"/>
            <a:r>
              <a:rPr lang="ru-RU" dirty="0"/>
              <a:t/>
            </a:r>
            <a:br>
              <a:rPr lang="ru-RU" dirty="0"/>
            </a:br>
            <a:r>
              <a:rPr lang="ru-RU" dirty="0"/>
              <a:t>Абитуриенты образовательных организаций Российской Федерации, их родители (законные представители), а также сотрудники приёмных комиссий.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="" xmlns:a16="http://schemas.microsoft.com/office/drawing/2014/main" id="{71DDA969-D896-47E2-BC8E-EBF99A51696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456364" y="1341437"/>
            <a:ext cx="5184775" cy="5040312"/>
          </a:xfrm>
        </p:spPr>
        <p:txBody>
          <a:bodyPr wrap="square">
            <a:normAutofit lnSpcReduction="10000"/>
          </a:bodyPr>
          <a:lstStyle/>
          <a:p>
            <a:pPr lvl="3"/>
            <a:r>
              <a:rPr lang="ru-RU" i="1" dirty="0">
                <a:solidFill>
                  <a:schemeClr val="accent1"/>
                </a:solidFill>
              </a:rPr>
              <a:t>Социальная значимость проекта</a:t>
            </a:r>
          </a:p>
          <a:p>
            <a:pPr lvl="3"/>
            <a:r>
              <a:rPr lang="ru-RU" dirty="0"/>
              <a:t>Проект направлен на повышение доступности и прозрачности процедуры поступления в образовательные организации. Внедрение чат-бота для приёмной комиссии способствует снижению информационной нагрузки на абитуриентов и их родителей, сокращению количества ошибок при подаче документов, а также повышению качества взаимодействия между гражданами и образовательными учреждениями. Реализация проекта обеспечивает равный доступ к актуальной информации, включая лиц с ограниченными возможностями здоровья и абитуриентов из отдалённых регионов, тем самым повышая качество жизни граждан и укрепляя доверие к системе образования.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89CFDAE7-EDD6-BF5D-0DFF-707ACF1C7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241777"/>
            <a:ext cx="9608330" cy="664797"/>
          </a:xfrm>
        </p:spPr>
        <p:txBody>
          <a:bodyPr/>
          <a:lstStyle/>
          <a:p>
            <a:r>
              <a:rPr lang="ru-RU" dirty="0"/>
              <a:t>Регион реализации, социальная значимость и целевая аудитория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468942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="" xmlns:a16="http://schemas.microsoft.com/office/drawing/2014/main" id="{F49452D1-89AA-4C5A-88F0-499C88E144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3"/>
            <a:r>
              <a:rPr lang="ru-RU" i="1" dirty="0">
                <a:solidFill>
                  <a:schemeClr val="accent1"/>
                </a:solidFill>
              </a:rPr>
              <a:t>Цель проекта</a:t>
            </a:r>
          </a:p>
          <a:p>
            <a:pPr lvl="3"/>
            <a:r>
              <a:rPr lang="ru-RU" dirty="0"/>
              <a:t>Создание и внедрение чат-бота для приёмной комиссии образовательной организации с целью повышения доступности, оперативности и качества информирования абитуриентов, а также снижения нагрузки на сотрудников приёмной комиссии.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89CFDAE7-EDD6-BF5D-0DFF-707ACF1C7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</p:spPr>
        <p:txBody>
          <a:bodyPr/>
          <a:lstStyle/>
          <a:p>
            <a:r>
              <a:rPr lang="ru-RU" dirty="0"/>
              <a:t>Цель и задачи проекта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2E560815-D85B-F21C-9CDC-366B1922C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0093" y="1090434"/>
            <a:ext cx="5877581" cy="5713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3" fontAlgn="base">
              <a:lnSpc>
                <a:spcPct val="11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tabLst>
                <a:tab pos="269875" algn="l"/>
              </a:tabLst>
            </a:pPr>
            <a:r>
              <a:rPr lang="ru-RU" i="1" dirty="0">
                <a:solidFill>
                  <a:schemeClr val="accent1"/>
                </a:solidFill>
              </a:rPr>
              <a:t>Задачи проекта</a:t>
            </a:r>
            <a:endParaRPr lang="ru-RU" altLang="ru-RU" dirty="0"/>
          </a:p>
          <a:p>
            <a:pPr marL="342900" marR="0" lvl="3" indent="-342900" fontAlgn="base">
              <a:lnSpc>
                <a:spcPct val="11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SzTx/>
              <a:buFont typeface="+mj-lt"/>
              <a:buAutoNum type="arabicPeriod"/>
              <a:tabLst>
                <a:tab pos="269875" algn="l"/>
              </a:tabLst>
            </a:pPr>
            <a:r>
              <a:rPr lang="ru-RU" altLang="ru-RU" dirty="0"/>
              <a:t>Проанализировать основные информационные запросы абитуриентов и родителей в период приёмной кампании.</a:t>
            </a:r>
          </a:p>
          <a:p>
            <a:pPr marL="342900" marR="0" lvl="3" indent="-342900" fontAlgn="base">
              <a:lnSpc>
                <a:spcPct val="11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SzTx/>
              <a:buFont typeface="+mj-lt"/>
              <a:buAutoNum type="arabicPeriod"/>
              <a:tabLst>
                <a:tab pos="269875" algn="l"/>
              </a:tabLst>
            </a:pPr>
            <a:r>
              <a:rPr lang="ru-RU" altLang="ru-RU" dirty="0"/>
              <a:t>Разработать структуру и функционал чат-бота, ориентированного на типовые и часто задаваемые вопросы.</a:t>
            </a:r>
          </a:p>
          <a:p>
            <a:pPr marL="342900" marR="0" lvl="3" indent="-342900" fontAlgn="base">
              <a:lnSpc>
                <a:spcPct val="11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SzTx/>
              <a:buFont typeface="+mj-lt"/>
              <a:buAutoNum type="arabicPeriod"/>
              <a:tabLst>
                <a:tab pos="269875" algn="l"/>
              </a:tabLst>
            </a:pPr>
            <a:r>
              <a:rPr lang="ru-RU" altLang="ru-RU" dirty="0"/>
              <a:t>Реализовать чат-бот с возможностью круглосуточного предоставления актуальной информации о правилах приёма, сроках, документах и направлениях подготовки.</a:t>
            </a:r>
          </a:p>
          <a:p>
            <a:pPr marL="342900" marR="0" lvl="3" indent="-342900" fontAlgn="base">
              <a:lnSpc>
                <a:spcPct val="11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SzTx/>
              <a:buFont typeface="+mj-lt"/>
              <a:buAutoNum type="arabicPeriod"/>
              <a:tabLst>
                <a:tab pos="269875" algn="l"/>
              </a:tabLst>
            </a:pPr>
            <a:r>
              <a:rPr lang="ru-RU" altLang="ru-RU" dirty="0"/>
              <a:t>Обеспечить удобство использования чат-бота для различных категорий пользователей, включая абитуриентов из отдалённых регионов.</a:t>
            </a:r>
          </a:p>
          <a:p>
            <a:pPr marL="342900" marR="0" lvl="3" indent="-342900" fontAlgn="base">
              <a:lnSpc>
                <a:spcPct val="11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SzTx/>
              <a:buFont typeface="+mj-lt"/>
              <a:buAutoNum type="arabicPeriod"/>
              <a:tabLst>
                <a:tab pos="269875" algn="l"/>
              </a:tabLst>
            </a:pPr>
            <a:r>
              <a:rPr lang="ru-RU" altLang="ru-RU" dirty="0"/>
              <a:t>Провести тестирование чат-бота и оценить его эффективность в процессе приёмной кампании.</a:t>
            </a:r>
          </a:p>
        </p:txBody>
      </p:sp>
    </p:spTree>
    <p:extLst>
      <p:ext uri="{BB962C8B-B14F-4D97-AF65-F5344CB8AC3E}">
        <p14:creationId xmlns:p14="http://schemas.microsoft.com/office/powerpoint/2010/main" val="1537863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="" xmlns:a16="http://schemas.microsoft.com/office/drawing/2014/main" id="{B590F643-562B-41E2-8E6D-A3A0F9050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 финансирования и примерный бюджет</a:t>
            </a:r>
          </a:p>
        </p:txBody>
      </p:sp>
      <p:graphicFrame>
        <p:nvGraphicFramePr>
          <p:cNvPr id="9" name="Таблица 9">
            <a:extLst>
              <a:ext uri="{FF2B5EF4-FFF2-40B4-BE49-F238E27FC236}">
                <a16:creationId xmlns="" xmlns:a16="http://schemas.microsoft.com/office/drawing/2014/main" id="{F3538304-4706-4499-967D-A0AD63508A7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147626364"/>
              </p:ext>
            </p:extLst>
          </p:nvPr>
        </p:nvGraphicFramePr>
        <p:xfrm>
          <a:off x="317399" y="1341438"/>
          <a:ext cx="5661869" cy="475996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879333">
                  <a:extLst>
                    <a:ext uri="{9D8B030D-6E8A-4147-A177-3AD203B41FA5}">
                      <a16:colId xmlns="" xmlns:a16="http://schemas.microsoft.com/office/drawing/2014/main" val="1909452533"/>
                    </a:ext>
                  </a:extLst>
                </a:gridCol>
                <a:gridCol w="1891268">
                  <a:extLst>
                    <a:ext uri="{9D8B030D-6E8A-4147-A177-3AD203B41FA5}">
                      <a16:colId xmlns="" xmlns:a16="http://schemas.microsoft.com/office/drawing/2014/main" val="404384710"/>
                    </a:ext>
                  </a:extLst>
                </a:gridCol>
                <a:gridCol w="1891268">
                  <a:extLst>
                    <a:ext uri="{9D8B030D-6E8A-4147-A177-3AD203B41FA5}">
                      <a16:colId xmlns="" xmlns:a16="http://schemas.microsoft.com/office/drawing/2014/main" val="11000396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Тип источника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Наименование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Обоснование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296026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Государственные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Федеральные и региональные грантовые программы поддержки молодежных и цифровых инициатив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Проект соответствует задачам цифровизации образования и повышению доступности государственных и образовательных услуг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190818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Государственные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Гранты и конкурсы Росмолодёжи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Поддержка социально значимых проектов, реализуемых студентами и молодежью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77422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Образовательная организация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Внутренние ресурсы вуза (организационная и техническая поддержка)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Использование инфраструктуры вуза снижает финансовые затраты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513736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Частные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Партнёрская поддержка IT-компаний (при наличии)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Возможность экспертной и технологической помощи в рамках социального партнёрства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77897926"/>
                  </a:ext>
                </a:extLst>
              </a:tr>
            </a:tbl>
          </a:graphicData>
        </a:graphic>
      </p:graphicFrame>
      <p:graphicFrame>
        <p:nvGraphicFramePr>
          <p:cNvPr id="2" name="Таблица 9">
            <a:extLst>
              <a:ext uri="{FF2B5EF4-FFF2-40B4-BE49-F238E27FC236}">
                <a16:creationId xmlns="" xmlns:a16="http://schemas.microsoft.com/office/drawing/2014/main" id="{0B071589-D293-ABAE-02BC-25CA601A51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0407654"/>
              </p:ext>
            </p:extLst>
          </p:nvPr>
        </p:nvGraphicFramePr>
        <p:xfrm>
          <a:off x="6322978" y="1796098"/>
          <a:ext cx="5661869" cy="38506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879333">
                  <a:extLst>
                    <a:ext uri="{9D8B030D-6E8A-4147-A177-3AD203B41FA5}">
                      <a16:colId xmlns="" xmlns:a16="http://schemas.microsoft.com/office/drawing/2014/main" val="1909452533"/>
                    </a:ext>
                  </a:extLst>
                </a:gridCol>
                <a:gridCol w="1891268">
                  <a:extLst>
                    <a:ext uri="{9D8B030D-6E8A-4147-A177-3AD203B41FA5}">
                      <a16:colId xmlns="" xmlns:a16="http://schemas.microsoft.com/office/drawing/2014/main" val="404384710"/>
                    </a:ext>
                  </a:extLst>
                </a:gridCol>
                <a:gridCol w="1891268">
                  <a:extLst>
                    <a:ext uri="{9D8B030D-6E8A-4147-A177-3AD203B41FA5}">
                      <a16:colId xmlns="" xmlns:a16="http://schemas.microsoft.com/office/drawing/2014/main" val="11000396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Статья затрат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Содержание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Сумма, руб.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296026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Анализ требований и проектирование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Сбор и анализ типовых вопросов абитуриентов, разработка логики диалогов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10 000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190818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Разработка чат-бота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Создание программной логики, настройка платформы, интеграция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25 000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77422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Тестирование и доработка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Проверка корректности ответов, исправление ошибок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5 000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513736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Информационное сопровождение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Подготовка инструкций и описаний для пользователей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/>
                        <a:t>5 000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77897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/>
                        <a:t>Итого</a:t>
                      </a:r>
                      <a:endParaRPr lang="ru-RU" sz="1200"/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45 000</a:t>
                      </a:r>
                      <a:endParaRPr lang="ru-RU" sz="1200" dirty="0"/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75389633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36CB41D-F023-ADD5-D547-6F45EED67BE6}"/>
              </a:ext>
            </a:extLst>
          </p:cNvPr>
          <p:cNvSpPr txBox="1"/>
          <p:nvPr/>
        </p:nvSpPr>
        <p:spPr>
          <a:xfrm>
            <a:off x="-207519" y="96253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/>
            <a:r>
              <a:rPr lang="ru-RU" i="1" dirty="0">
                <a:solidFill>
                  <a:schemeClr val="accent1"/>
                </a:solidFill>
              </a:rPr>
              <a:t>Источники финансирования проекта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554E3D3-BFAB-7F62-C43C-C814FA4ECC8D}"/>
              </a:ext>
            </a:extLst>
          </p:cNvPr>
          <p:cNvSpPr txBox="1"/>
          <p:nvPr/>
        </p:nvSpPr>
        <p:spPr>
          <a:xfrm>
            <a:off x="6105912" y="13109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/>
            <a:r>
              <a:rPr lang="ru-RU" i="1" dirty="0">
                <a:solidFill>
                  <a:schemeClr val="accent1"/>
                </a:solidFill>
              </a:rPr>
              <a:t>Примерный бюджет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307189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="" xmlns:a16="http://schemas.microsoft.com/office/drawing/2014/main" id="{B0D3C556-5A01-48DF-A23F-B504A3D9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8652131" cy="332399"/>
          </a:xfrm>
        </p:spPr>
        <p:txBody>
          <a:bodyPr/>
          <a:lstStyle/>
          <a:p>
            <a:r>
              <a:rPr lang="ru-RU" dirty="0"/>
              <a:t>Описание проекта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="" xmlns:a16="http://schemas.microsoft.com/office/drawing/2014/main" id="{BB70F973-3FF0-443E-8D26-6B1885B517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lvl="3"/>
            <a:r>
              <a:rPr lang="ru-RU" dirty="0"/>
              <a:t>Проект представляет собой разработку чат-бота для приёмной комиссии образовательной организации, предназначенного для автоматизированного консультирования абитуриентов и их родителей по вопросам поступления. Чат-бот обеспечивает круглосуточный доступ к актуальной информации о правилах приёма, сроках подачи документов, перечне направлений подготовки и условиях зачисления, что снижает информационную нагрузку на сотрудников приёмной комиссии и минимизирует вероятность ошибок со стороны поступающих. Реализация проекта способствует повышению прозрачности и доступности образовательных услуг, а также развитию цифровых форм взаимодействия граждан с образовательными учреждениями. Использование чат-бота особенно актуально в период приёмной кампании, когда количество обращений существенно возрастает. В долгосрочной перспективе проект может быть масштабирован и адаптирован для использования в других образовательных организациях.</a:t>
            </a:r>
          </a:p>
        </p:txBody>
      </p:sp>
    </p:spTree>
    <p:extLst>
      <p:ext uri="{BB962C8B-B14F-4D97-AF65-F5344CB8AC3E}">
        <p14:creationId xmlns:p14="http://schemas.microsoft.com/office/powerpoint/2010/main" val="4018220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="" xmlns:a16="http://schemas.microsoft.com/office/drawing/2014/main" id="{B590F643-562B-41E2-8E6D-A3A0F9050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Этапы реализации проекта</a:t>
            </a:r>
          </a:p>
        </p:txBody>
      </p:sp>
      <p:graphicFrame>
        <p:nvGraphicFramePr>
          <p:cNvPr id="9" name="Таблица 9">
            <a:extLst>
              <a:ext uri="{FF2B5EF4-FFF2-40B4-BE49-F238E27FC236}">
                <a16:creationId xmlns="" xmlns:a16="http://schemas.microsoft.com/office/drawing/2014/main" id="{F3538304-4706-4499-967D-A0AD63508A7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993535936"/>
              </p:ext>
            </p:extLst>
          </p:nvPr>
        </p:nvGraphicFramePr>
        <p:xfrm>
          <a:off x="317399" y="1341438"/>
          <a:ext cx="9608330" cy="466852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297392">
                  <a:extLst>
                    <a:ext uri="{9D8B030D-6E8A-4147-A177-3AD203B41FA5}">
                      <a16:colId xmlns="" xmlns:a16="http://schemas.microsoft.com/office/drawing/2014/main" val="1909452533"/>
                    </a:ext>
                  </a:extLst>
                </a:gridCol>
                <a:gridCol w="2717260">
                  <a:extLst>
                    <a:ext uri="{9D8B030D-6E8A-4147-A177-3AD203B41FA5}">
                      <a16:colId xmlns="" xmlns:a16="http://schemas.microsoft.com/office/drawing/2014/main" val="404384710"/>
                    </a:ext>
                  </a:extLst>
                </a:gridCol>
                <a:gridCol w="5593678">
                  <a:extLst>
                    <a:ext uri="{9D8B030D-6E8A-4147-A177-3AD203B41FA5}">
                      <a16:colId xmlns="" xmlns:a16="http://schemas.microsoft.com/office/drawing/2014/main" val="11000396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/>
                        <a:t>№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/>
                        <a:t>Этап проекта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/>
                        <a:t>Содержание работ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296026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/>
                        <a:t>1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/>
                        <a:t>Инициация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/>
                        <a:t>Формирование идеи проекта, определение социальной проблемы, анализ актуальности внедрения чат-бота для приёмной комиссии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190818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/>
                        <a:t>2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/>
                        <a:t>Планирование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/>
                        <a:t>Определение цели и задач проекта, разработка структуры чат-бота, составление плана работ и бюджета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77422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/>
                        <a:t>3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/>
                        <a:t>Реализация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/>
                        <a:t>Разработка чат-бота, наполнение базы вопросов и ответов, настройка функционала и интерфейса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513736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/>
                        <a:t>4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/>
                        <a:t>Контроль и мониторинг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/>
                        <a:t>Тестирование работы чат-бота, сбор обратной связи от пользователей, корректировка и доработка функционала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77897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/>
                        <a:t>5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/>
                        <a:t>Завершение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Оценка результатов проекта, анализ эффективности, подготовка рекомендаций по дальнейшему использованию и развитию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693874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4009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="" xmlns:a16="http://schemas.microsoft.com/office/drawing/2014/main" id="{B590F643-562B-41E2-8E6D-A3A0F9050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Ожидаемые результаты и риски реализации проекта</a:t>
            </a:r>
          </a:p>
        </p:txBody>
      </p:sp>
      <p:graphicFrame>
        <p:nvGraphicFramePr>
          <p:cNvPr id="9" name="Таблица 9">
            <a:extLst>
              <a:ext uri="{FF2B5EF4-FFF2-40B4-BE49-F238E27FC236}">
                <a16:creationId xmlns="" xmlns:a16="http://schemas.microsoft.com/office/drawing/2014/main" id="{F3538304-4706-4499-967D-A0AD63508A7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593593578"/>
              </p:ext>
            </p:extLst>
          </p:nvPr>
        </p:nvGraphicFramePr>
        <p:xfrm>
          <a:off x="317399" y="1341438"/>
          <a:ext cx="9608330" cy="399796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297392">
                  <a:extLst>
                    <a:ext uri="{9D8B030D-6E8A-4147-A177-3AD203B41FA5}">
                      <a16:colId xmlns="" xmlns:a16="http://schemas.microsoft.com/office/drawing/2014/main" val="1909452533"/>
                    </a:ext>
                  </a:extLst>
                </a:gridCol>
                <a:gridCol w="2717260">
                  <a:extLst>
                    <a:ext uri="{9D8B030D-6E8A-4147-A177-3AD203B41FA5}">
                      <a16:colId xmlns="" xmlns:a16="http://schemas.microsoft.com/office/drawing/2014/main" val="404384710"/>
                    </a:ext>
                  </a:extLst>
                </a:gridCol>
                <a:gridCol w="5593678">
                  <a:extLst>
                    <a:ext uri="{9D8B030D-6E8A-4147-A177-3AD203B41FA5}">
                      <a16:colId xmlns="" xmlns:a16="http://schemas.microsoft.com/office/drawing/2014/main" val="11000396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Категория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Показатель / ситуация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Описание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296026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Ожидаемые результаты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Повышение доступности информации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Абитуриенты получают круглосуточный доступ к актуальной и достоверной информации о поступлении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190818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Ожидаемые результаты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Снижение нагрузки на приёмную комиссию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Сокращение количества однотипных обращений к сотрудникам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77422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Ожидаемые результаты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Повышение качества взаимодействия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Улучшение коммуникации между образовательной организацией и гражданами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513736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Риски (внутренние)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Неполнота базы ответов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Возможны вопросы, не предусмотренные на этапе разработки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77897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Риски (внутренние)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Технические сбои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Временная недоступность чат-бота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693874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Риски (внешние)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Изменение правил приёма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Необходимость оперативного обновления информации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563381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Риски (внешние)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Низкая информированность пользователей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Недостаточное использование чат-бота на начальном этапе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083737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1952354"/>
      </p:ext>
    </p:extLst>
  </p:cSld>
  <p:clrMapOvr>
    <a:masterClrMapping/>
  </p:clrMapOvr>
</p:sld>
</file>

<file path=ppt/theme/theme1.xml><?xml version="1.0" encoding="utf-8"?>
<a:theme xmlns:a="http://schemas.openxmlformats.org/drawingml/2006/main" name="Титульная страница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ГУАП презентация курса.potx" id="{0DF838E0-DD05-488A-AC6B-E98ACB4C24AD}" vid="{75426110-BF82-4921-B51E-81780A536C48}"/>
    </a:ext>
  </a:extLst>
</a:theme>
</file>

<file path=ppt/theme/theme2.xml><?xml version="1.0" encoding="utf-8"?>
<a:theme xmlns:a="http://schemas.openxmlformats.org/drawingml/2006/main" name="Текстов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="" xmlns:thm15="http://schemas.microsoft.com/office/thememl/2012/main" name="ГУАП презентация курса.potx" id="{0DF838E0-DD05-488A-AC6B-E98ACB4C24AD}" vid="{8C20C85A-CFD0-4C40-80A0-6689F915CE1B}"/>
    </a:ext>
  </a:extLst>
</a:theme>
</file>

<file path=ppt/theme/theme3.xml><?xml version="1.0" encoding="utf-8"?>
<a:theme xmlns:a="http://schemas.openxmlformats.org/drawingml/2006/main" name="Универсальные блоки - таблицы, рисунки, диаграммы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="" xmlns:thm15="http://schemas.microsoft.com/office/thememl/2012/main" name="ГУАП презентация курса.potx" id="{0DF838E0-DD05-488A-AC6B-E98ACB4C24AD}" vid="{001A831C-BEEC-4D03-A706-230513593B8E}"/>
    </a:ext>
  </a:extLst>
</a:theme>
</file>

<file path=ppt/theme/theme4.xml><?xml version="1.0" encoding="utf-8"?>
<a:theme xmlns:a="http://schemas.openxmlformats.org/drawingml/2006/main" name="Дополнительн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="" xmlns:thm15="http://schemas.microsoft.com/office/thememl/2012/main" name="ГУАП презентация курса.potx" id="{0DF838E0-DD05-488A-AC6B-E98ACB4C24AD}" vid="{AFBC0B84-8B15-49D7-9C5E-B813409B8E8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ГУАП презентация курса - шаблон</Template>
  <TotalTime>47</TotalTime>
  <Words>791</Words>
  <Application>Microsoft Office PowerPoint</Application>
  <PresentationFormat>Произвольный</PresentationFormat>
  <Paragraphs>127</Paragraphs>
  <Slides>8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Calibri</vt:lpstr>
      <vt:lpstr>Wingdings</vt:lpstr>
      <vt:lpstr>Титульная страница</vt:lpstr>
      <vt:lpstr>Текстовые блоки</vt:lpstr>
      <vt:lpstr>Универсальные блоки - таблицы, рисунки, диаграммы</vt:lpstr>
      <vt:lpstr>Дополнительные блоки</vt:lpstr>
      <vt:lpstr>«Чат-бот для приёмной комиссии образовательной организации»</vt:lpstr>
      <vt:lpstr>Команда проекта и распределение ролей</vt:lpstr>
      <vt:lpstr>Регион реализации, социальная значимость и целевая аудитория проекта</vt:lpstr>
      <vt:lpstr>Цель и задачи проекта</vt:lpstr>
      <vt:lpstr>Источники финансирования и примерный бюджет</vt:lpstr>
      <vt:lpstr>Описание проекта</vt:lpstr>
      <vt:lpstr>Этапы реализации проекта</vt:lpstr>
      <vt:lpstr>Ожидаемые результаты и риски реализации проекта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Фирменный стиль  презентаций</dc:title>
  <dc:subject/>
  <dc:creator>Алексей Малышев</dc:creator>
  <cp:keywords/>
  <dc:description/>
  <cp:lastModifiedBy>1</cp:lastModifiedBy>
  <cp:revision>10</cp:revision>
  <dcterms:created xsi:type="dcterms:W3CDTF">2023-06-16T08:15:39Z</dcterms:created>
  <dcterms:modified xsi:type="dcterms:W3CDTF">2025-12-27T08:51:20Z</dcterms:modified>
  <cp:category/>
</cp:coreProperties>
</file>